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56" autoAdjust="0"/>
    <p:restoredTop sz="94660"/>
  </p:normalViewPr>
  <p:slideViewPr>
    <p:cSldViewPr snapToGrid="0">
      <p:cViewPr varScale="1">
        <p:scale>
          <a:sx n="98" d="100"/>
          <a:sy n="98" d="100"/>
        </p:scale>
        <p:origin x="101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85175A5B-2C71-47AA-A2EF-6BB772FB488C}" type="datetimeFigureOut">
              <a:rPr lang="es-MX" smtClean="0"/>
              <a:t>20/05/2026</a:t>
            </a:fld>
            <a:endParaRPr lang="es-MX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2194AB-FEC6-4C84-ADF0-E899C12FA4F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983315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75A5B-2C71-47AA-A2EF-6BB772FB488C}" type="datetimeFigureOut">
              <a:rPr lang="es-MX" smtClean="0"/>
              <a:t>20/05/2026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194AB-FEC6-4C84-ADF0-E899C12FA4F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48324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175A5B-2C71-47AA-A2EF-6BB772FB488C}" type="datetimeFigureOut">
              <a:rPr lang="es-MX" smtClean="0"/>
              <a:t>20/05/2026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342194AB-FEC6-4C84-ADF0-E899C12FA4F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938289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75A5B-2C71-47AA-A2EF-6BB772FB488C}" type="datetimeFigureOut">
              <a:rPr lang="es-MX" smtClean="0"/>
              <a:t>20/05/2026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194AB-FEC6-4C84-ADF0-E899C12FA4F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43908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75A5B-2C71-47AA-A2EF-6BB772FB488C}" type="datetimeFigureOut">
              <a:rPr lang="es-MX" smtClean="0"/>
              <a:t>20/05/2026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194AB-FEC6-4C84-ADF0-E899C12FA4F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87896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75A5B-2C71-47AA-A2EF-6BB772FB488C}" type="datetimeFigureOut">
              <a:rPr lang="es-MX" smtClean="0"/>
              <a:t>20/05/2026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194AB-FEC6-4C84-ADF0-E899C12FA4F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26444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75A5B-2C71-47AA-A2EF-6BB772FB488C}" type="datetimeFigureOut">
              <a:rPr lang="es-MX" smtClean="0"/>
              <a:t>20/05/2026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194AB-FEC6-4C84-ADF0-E899C12FA4F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04460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75A5B-2C71-47AA-A2EF-6BB772FB488C}" type="datetimeFigureOut">
              <a:rPr lang="es-MX" smtClean="0"/>
              <a:t>20/05/2026</a:t>
            </a:fld>
            <a:endParaRPr lang="es-MX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s-MX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42194AB-FEC6-4C84-ADF0-E899C12FA4F1}" type="slidenum">
              <a:rPr lang="es-MX" smtClean="0"/>
              <a:t>‹Nº›</a:t>
            </a:fld>
            <a:endParaRPr lang="es-MX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92462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85175A5B-2C71-47AA-A2EF-6BB772FB488C}" type="datetimeFigureOut">
              <a:rPr lang="es-MX" smtClean="0"/>
              <a:t>20/05/2026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42194AB-FEC6-4C84-ADF0-E899C12FA4F1}" type="slidenum">
              <a:rPr lang="es-MX" smtClean="0"/>
              <a:t>‹Nº›</a:t>
            </a:fld>
            <a:endParaRPr lang="es-MX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91915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75A5B-2C71-47AA-A2EF-6BB772FB488C}" type="datetimeFigureOut">
              <a:rPr lang="es-MX" smtClean="0"/>
              <a:t>20/05/2026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194AB-FEC6-4C84-ADF0-E899C12FA4F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91668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75A5B-2C71-47AA-A2EF-6BB772FB488C}" type="datetimeFigureOut">
              <a:rPr lang="es-MX" smtClean="0"/>
              <a:t>20/05/2026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194AB-FEC6-4C84-ADF0-E899C12FA4F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22197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85175A5B-2C71-47AA-A2EF-6BB772FB488C}" type="datetimeFigureOut">
              <a:rPr lang="es-MX" smtClean="0"/>
              <a:t>20/05/2026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2194AB-FEC6-4C84-ADF0-E899C12FA4F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45681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1E332C-F30E-6C76-2CC7-CE237438F7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39631" y="1445848"/>
            <a:ext cx="8956431" cy="3165230"/>
          </a:xfrm>
        </p:spPr>
        <p:txBody>
          <a:bodyPr>
            <a:noAutofit/>
          </a:bodyPr>
          <a:lstStyle/>
          <a:p>
            <a:pPr algn="l"/>
            <a:br>
              <a:rPr lang="es-MX" sz="2800" b="1" dirty="0"/>
            </a:br>
            <a:br>
              <a:rPr lang="es-MX" sz="2800" b="1" dirty="0"/>
            </a:br>
            <a:r>
              <a:rPr lang="es-MX" sz="2400" b="1" dirty="0"/>
              <a:t>Caso 4. Sistema de inscripción a cursos extracurriculares </a:t>
            </a:r>
            <a:br>
              <a:rPr lang="es-MX" sz="2400" b="1" dirty="0"/>
            </a:br>
            <a:br>
              <a:rPr lang="es-MX" sz="2400" b="1" dirty="0"/>
            </a:br>
            <a:r>
              <a:rPr lang="es-MX" sz="2400" b="1" dirty="0"/>
              <a:t>Estudiantes: </a:t>
            </a:r>
            <a:br>
              <a:rPr lang="es-MX" sz="2400" b="1" dirty="0"/>
            </a:br>
            <a:r>
              <a:rPr lang="es-MX" sz="2400" b="1" dirty="0" err="1"/>
              <a:t>Alisson</a:t>
            </a:r>
            <a:r>
              <a:rPr lang="es-MX" sz="2400" b="1" dirty="0"/>
              <a:t> Arely Hernández Camargo</a:t>
            </a:r>
            <a:br>
              <a:rPr lang="es-MX" sz="2400" b="1" dirty="0"/>
            </a:br>
            <a:r>
              <a:rPr lang="es-MX" sz="2400" b="1" dirty="0"/>
              <a:t>Irving </a:t>
            </a:r>
            <a:r>
              <a:rPr lang="es-MX" sz="2400" b="1" dirty="0" err="1"/>
              <a:t>Josue</a:t>
            </a:r>
            <a:r>
              <a:rPr lang="es-MX" sz="2400" b="1" dirty="0"/>
              <a:t> </a:t>
            </a:r>
            <a:r>
              <a:rPr lang="es-MX" sz="2400" b="1" dirty="0" err="1"/>
              <a:t>Andablo</a:t>
            </a:r>
            <a:r>
              <a:rPr lang="es-MX" sz="2400" b="1" dirty="0"/>
              <a:t> Islas </a:t>
            </a:r>
            <a:br>
              <a:rPr lang="es-MX" sz="2400" b="1" dirty="0"/>
            </a:br>
            <a:r>
              <a:rPr lang="es-MX" sz="2400" b="1" dirty="0" err="1"/>
              <a:t>Monserrath</a:t>
            </a:r>
            <a:r>
              <a:rPr lang="es-MX" sz="2400" b="1" dirty="0"/>
              <a:t> Muñoz </a:t>
            </a:r>
            <a:r>
              <a:rPr lang="es-MX" sz="2400" b="1" dirty="0" err="1"/>
              <a:t>Juarez</a:t>
            </a:r>
            <a:br>
              <a:rPr lang="es-MX" sz="2400" b="1" dirty="0"/>
            </a:br>
            <a:br>
              <a:rPr lang="es-MX" sz="2400" b="1" dirty="0"/>
            </a:br>
            <a:r>
              <a:rPr lang="es-MX" sz="2400" b="1" dirty="0"/>
              <a:t> Docente: José Luis Herrera </a:t>
            </a:r>
            <a:r>
              <a:rPr lang="es-MX" sz="2400" b="1" dirty="0" err="1"/>
              <a:t>Gallardo</a:t>
            </a:r>
            <a:br>
              <a:rPr lang="es-MX" sz="2400" b="1" dirty="0"/>
            </a:br>
            <a:br>
              <a:rPr lang="es-MX" sz="2400" b="1" dirty="0"/>
            </a:br>
            <a:r>
              <a:rPr lang="es-MX" sz="2400" b="1" dirty="0"/>
              <a:t> 3DMS-G2</a:t>
            </a:r>
            <a:br>
              <a:rPr lang="es-MX" sz="2400" b="1" dirty="0"/>
            </a:br>
            <a:br>
              <a:rPr lang="es-MX" sz="2400" b="1" dirty="0"/>
            </a:br>
            <a:r>
              <a:rPr lang="es-MX" sz="2400" b="1" dirty="0"/>
              <a:t> 21/05/2026</a:t>
            </a:r>
            <a:endParaRPr lang="es-MX" sz="2800" b="1" dirty="0"/>
          </a:p>
        </p:txBody>
      </p:sp>
      <p:pic>
        <p:nvPicPr>
          <p:cNvPr id="6" name="Imagen 5" descr="Universidad Tecnológica de Tula-Tepeji">
            <a:extLst>
              <a:ext uri="{FF2B5EF4-FFF2-40B4-BE49-F238E27FC236}">
                <a16:creationId xmlns:a16="http://schemas.microsoft.com/office/drawing/2014/main" id="{DFC099B7-BCF0-2405-C99E-FCAB49C239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3477" y="1256371"/>
            <a:ext cx="2313354" cy="14342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9137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249F25-C74B-6C32-9131-FD7B51E6A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939" y="0"/>
            <a:ext cx="10515600" cy="1325563"/>
          </a:xfrm>
        </p:spPr>
        <p:txBody>
          <a:bodyPr/>
          <a:lstStyle/>
          <a:p>
            <a:r>
              <a:rPr lang="es-MX" dirty="0"/>
              <a:t>2. Introducción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6298632-CBC6-4E33-EEB7-978E782F3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07" y="836244"/>
            <a:ext cx="8776677" cy="2946402"/>
          </a:xfrm>
        </p:spPr>
        <p:txBody>
          <a:bodyPr>
            <a:noAutofit/>
          </a:bodyPr>
          <a:lstStyle/>
          <a:p>
            <a:pPr indent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s-MX" sz="2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 universidad ofrece cursos extracurriculares el problema es que las inscripciones son mediante formularios impresos y eso dificulta saber cierta información como cuántos alumnos hay, que grupos están llenos, cupo máximo, horarios etc. Y para organizar toda la información se construirá una base de datos donde ayude a registrar la información de los alumnos, para que los que se encargan del registro de los cursos organicen y guarden la información sobre los alumnos para poder acceder más fácil a la información si necesidad de buscar entre formularios.</a:t>
            </a:r>
            <a:br>
              <a:rPr lang="es-MX" sz="2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s-MX" sz="2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s-MX" sz="2400" dirty="0"/>
          </a:p>
        </p:txBody>
      </p:sp>
      <p:pic>
        <p:nvPicPr>
          <p:cNvPr id="1026" name="Picture 2" descr="Coordinación Académica">
            <a:extLst>
              <a:ext uri="{FF2B5EF4-FFF2-40B4-BE49-F238E27FC236}">
                <a16:creationId xmlns:a16="http://schemas.microsoft.com/office/drawing/2014/main" id="{32AB3799-61F7-419B-5DF9-4810D7CAE3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724" y="2613391"/>
            <a:ext cx="3143250" cy="1631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4585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24C71B-A906-61BE-4690-34C84BDF5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87" y="89877"/>
            <a:ext cx="10353761" cy="1326321"/>
          </a:xfrm>
        </p:spPr>
        <p:txBody>
          <a:bodyPr/>
          <a:lstStyle/>
          <a:p>
            <a:r>
              <a:rPr lang="es-MX" dirty="0"/>
              <a:t>3. Necesidad de información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68F6E17-2015-8C8A-DC4B-9F97B8517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584" y="1270731"/>
            <a:ext cx="3335215" cy="4351338"/>
          </a:xfrm>
          <a:ln w="57150">
            <a:solidFill>
              <a:schemeClr val="accent4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b="1" dirty="0"/>
              <a:t>Alumnos:</a:t>
            </a:r>
          </a:p>
          <a:p>
            <a:pPr marL="0" indent="0">
              <a:buNone/>
            </a:pPr>
            <a:r>
              <a:rPr lang="es-ES" sz="2400" dirty="0"/>
              <a:t>1.	Matrícula</a:t>
            </a:r>
          </a:p>
          <a:p>
            <a:pPr marL="0" indent="0">
              <a:buNone/>
            </a:pPr>
            <a:r>
              <a:rPr lang="es-ES" sz="2400" dirty="0"/>
              <a:t>2.	Nombre</a:t>
            </a:r>
          </a:p>
          <a:p>
            <a:pPr marL="0" indent="0">
              <a:buNone/>
            </a:pPr>
            <a:r>
              <a:rPr lang="es-ES" sz="2400" dirty="0"/>
              <a:t>3.	Carrera</a:t>
            </a:r>
          </a:p>
          <a:p>
            <a:pPr marL="0" indent="0">
              <a:buNone/>
            </a:pPr>
            <a:r>
              <a:rPr lang="es-ES" sz="2400" dirty="0"/>
              <a:t>4.	Grupo</a:t>
            </a:r>
          </a:p>
          <a:p>
            <a:pPr marL="0" indent="0">
              <a:buNone/>
            </a:pPr>
            <a:r>
              <a:rPr lang="es-ES" sz="2400" dirty="0"/>
              <a:t>5.	Correo</a:t>
            </a:r>
          </a:p>
          <a:p>
            <a:pPr marL="0" indent="0">
              <a:buNone/>
            </a:pPr>
            <a:r>
              <a:rPr lang="es-ES" sz="2400" dirty="0"/>
              <a:t>6.	Teléfono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954BE9C0-AAA1-85EC-FEB0-BA3B92D464D3}"/>
              </a:ext>
            </a:extLst>
          </p:cNvPr>
          <p:cNvSpPr txBox="1">
            <a:spLocks/>
          </p:cNvSpPr>
          <p:nvPr/>
        </p:nvSpPr>
        <p:spPr>
          <a:xfrm>
            <a:off x="4273061" y="1270732"/>
            <a:ext cx="3335215" cy="3238011"/>
          </a:xfrm>
          <a:prstGeom prst="rect">
            <a:avLst/>
          </a:prstGeom>
          <a:ln w="57150">
            <a:solidFill>
              <a:schemeClr val="accent4">
                <a:lumMod val="7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b="1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Cursos:</a:t>
            </a:r>
            <a:endParaRPr lang="es-MX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1.	Nombre</a:t>
            </a:r>
            <a:endParaRPr lang="es-MX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	Descripción</a:t>
            </a:r>
            <a:endParaRPr lang="es-MX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3.	Duración</a:t>
            </a:r>
            <a:endParaRPr lang="es-MX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4.	Cupo máximo</a:t>
            </a:r>
            <a:endParaRPr lang="es-MX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5.	Horario</a:t>
            </a:r>
            <a:endParaRPr lang="es-MX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56EC5AB1-2A55-131C-E10D-B6B223CABDC0}"/>
              </a:ext>
            </a:extLst>
          </p:cNvPr>
          <p:cNvSpPr txBox="1">
            <a:spLocks/>
          </p:cNvSpPr>
          <p:nvPr/>
        </p:nvSpPr>
        <p:spPr>
          <a:xfrm>
            <a:off x="7766538" y="1270731"/>
            <a:ext cx="3335215" cy="3238011"/>
          </a:xfrm>
          <a:prstGeom prst="rect">
            <a:avLst/>
          </a:prstGeom>
          <a:ln w="57150">
            <a:solidFill>
              <a:schemeClr val="accent4">
                <a:lumMod val="7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800" b="1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Docentes:</a:t>
            </a:r>
            <a:endParaRPr lang="es-MX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8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1.	ID docente</a:t>
            </a:r>
            <a:endParaRPr lang="es-MX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8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	Nombre</a:t>
            </a:r>
            <a:endParaRPr lang="es-MX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8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3.	Especialidad</a:t>
            </a:r>
            <a:endParaRPr lang="es-MX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8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4.	Correo</a:t>
            </a:r>
            <a:endParaRPr lang="es-MX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719424EF-C1D1-D4E7-0005-252F66A4F560}"/>
              </a:ext>
            </a:extLst>
          </p:cNvPr>
          <p:cNvSpPr txBox="1">
            <a:spLocks/>
          </p:cNvSpPr>
          <p:nvPr/>
        </p:nvSpPr>
        <p:spPr>
          <a:xfrm>
            <a:off x="7608276" y="4633791"/>
            <a:ext cx="3427047" cy="2134332"/>
          </a:xfrm>
          <a:prstGeom prst="rect">
            <a:avLst/>
          </a:prstGeom>
          <a:ln w="57150">
            <a:solidFill>
              <a:schemeClr val="accent4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50000"/>
              </a:lnSpc>
              <a:buNone/>
            </a:pPr>
            <a:r>
              <a:rPr lang="es-MX" sz="18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Inscripciones: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ID inscripción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Fecha de inscripción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s-MX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Estado</a:t>
            </a:r>
            <a:endParaRPr lang="es-MX" sz="20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8425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A69991-94CA-8B85-4E47-FCA828661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508" y="447209"/>
            <a:ext cx="10058400" cy="1371600"/>
          </a:xfrm>
        </p:spPr>
        <p:txBody>
          <a:bodyPr/>
          <a:lstStyle/>
          <a:p>
            <a:r>
              <a:rPr lang="es-MX" dirty="0"/>
              <a:t>4. Usuarios del sistema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67F2346E-B4BF-F2C6-3965-014BA6F1C564}"/>
              </a:ext>
            </a:extLst>
          </p:cNvPr>
          <p:cNvSpPr txBox="1">
            <a:spLocks/>
          </p:cNvSpPr>
          <p:nvPr/>
        </p:nvSpPr>
        <p:spPr>
          <a:xfrm>
            <a:off x="1236783" y="1673958"/>
            <a:ext cx="3335215" cy="3481021"/>
          </a:xfrm>
          <a:prstGeom prst="rect">
            <a:avLst/>
          </a:prstGeom>
          <a:ln w="57150">
            <a:solidFill>
              <a:schemeClr val="accent4">
                <a:lumMod val="7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s-MX" sz="20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Coordinación Académica:</a:t>
            </a:r>
            <a:endParaRPr lang="es-MX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s-MX" sz="2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Registrar cursos.</a:t>
            </a:r>
            <a:endParaRPr lang="es-MX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s-MX" sz="2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Registrar docentes.</a:t>
            </a:r>
            <a:endParaRPr lang="es-MX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s-MX" sz="2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Consultar cupos.</a:t>
            </a:r>
            <a:endParaRPr lang="es-MX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s-MX" sz="2400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Generar reportes</a:t>
            </a:r>
            <a:endParaRPr lang="es-ES" sz="3600" dirty="0"/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6A49A744-24B5-A7CA-17FA-3AFCBF8D64DF}"/>
              </a:ext>
            </a:extLst>
          </p:cNvPr>
          <p:cNvSpPr txBox="1">
            <a:spLocks/>
          </p:cNvSpPr>
          <p:nvPr/>
        </p:nvSpPr>
        <p:spPr>
          <a:xfrm>
            <a:off x="4956907" y="1684948"/>
            <a:ext cx="3335215" cy="2363421"/>
          </a:xfrm>
          <a:prstGeom prst="rect">
            <a:avLst/>
          </a:prstGeom>
          <a:ln w="57150">
            <a:solidFill>
              <a:schemeClr val="accent4">
                <a:lumMod val="7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s-MX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Alumnos</a:t>
            </a:r>
            <a:endParaRPr lang="es-MX" sz="20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s-MX" sz="2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Inscribirse al curso.</a:t>
            </a:r>
            <a:endParaRPr lang="es-MX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s-MX" sz="2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Darse de baja.</a:t>
            </a:r>
            <a:endParaRPr lang="es-MX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29B1359-E855-44DA-0123-E3F21547DF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8506" y="1998956"/>
            <a:ext cx="2860088" cy="2860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146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097F5C-914A-32CB-24FA-24B3A6DCD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7886"/>
            <a:ext cx="10058400" cy="1371600"/>
          </a:xfrm>
        </p:spPr>
        <p:txBody>
          <a:bodyPr>
            <a:normAutofit/>
          </a:bodyPr>
          <a:lstStyle/>
          <a:p>
            <a:r>
              <a:rPr lang="es-MX" sz="3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5. Procesos principales</a:t>
            </a:r>
            <a:br>
              <a:rPr lang="es-MX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s-MX" sz="3600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DEFAC00-0A13-45DD-BD45-CC934AA295E8}"/>
              </a:ext>
            </a:extLst>
          </p:cNvPr>
          <p:cNvSpPr txBox="1">
            <a:spLocks/>
          </p:cNvSpPr>
          <p:nvPr/>
        </p:nvSpPr>
        <p:spPr>
          <a:xfrm>
            <a:off x="838200" y="1505194"/>
            <a:ext cx="4726354" cy="3004283"/>
          </a:xfrm>
          <a:prstGeom prst="rect">
            <a:avLst/>
          </a:prstGeom>
          <a:ln w="57150">
            <a:solidFill>
              <a:schemeClr val="accent4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s-MX" sz="20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Registrar alumnos		</a:t>
            </a:r>
            <a:endParaRPr lang="es-MX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s-MX" sz="20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Registrar docentes</a:t>
            </a:r>
            <a:endParaRPr lang="es-MX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s-MX" sz="20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Registrar cursos</a:t>
            </a:r>
            <a:endParaRPr lang="es-MX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s-MX" sz="20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Inscribir alumnos</a:t>
            </a:r>
            <a:endParaRPr lang="es-MX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s-MX" sz="20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Verificar cupo disponible</a:t>
            </a:r>
            <a:endParaRPr lang="es-MX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14E12DA3-F8EA-0062-FCBE-AC2454ABDE83}"/>
              </a:ext>
            </a:extLst>
          </p:cNvPr>
          <p:cNvSpPr txBox="1">
            <a:spLocks/>
          </p:cNvSpPr>
          <p:nvPr/>
        </p:nvSpPr>
        <p:spPr>
          <a:xfrm>
            <a:off x="5867400" y="1505194"/>
            <a:ext cx="4726354" cy="2402498"/>
          </a:xfrm>
          <a:prstGeom prst="rect">
            <a:avLst/>
          </a:prstGeom>
          <a:ln w="57150">
            <a:solidFill>
              <a:schemeClr val="accent4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s-MX" sz="20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Validar horarios</a:t>
            </a:r>
            <a:endParaRPr lang="es-MX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s-MX" sz="20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Dar de baja</a:t>
            </a:r>
            <a:endParaRPr lang="es-MX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s-MX" sz="20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Consultar información</a:t>
            </a:r>
            <a:endParaRPr lang="es-MX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s-MX" sz="20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Generar reportes</a:t>
            </a:r>
            <a:endParaRPr lang="es-MX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F1B5512-C8DC-17BE-CB6B-086BE6EA4B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1632" y="4173758"/>
            <a:ext cx="2096356" cy="2096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638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DAB29D-E8CC-DAAF-81E6-A8D8C020C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9863" y="387775"/>
            <a:ext cx="10058400" cy="1371600"/>
          </a:xfrm>
        </p:spPr>
        <p:txBody>
          <a:bodyPr>
            <a:normAutofit/>
          </a:bodyPr>
          <a:lstStyle/>
          <a:p>
            <a:r>
              <a:rPr lang="es-MX" sz="3000" kern="10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6. </a:t>
            </a:r>
            <a:r>
              <a:rPr lang="es-MX" sz="30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Entidades o tablas propuestas</a:t>
            </a:r>
            <a:br>
              <a:rPr lang="es-MX" sz="3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s-MX" sz="3000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194538F2-9CF4-ECFF-2093-1E79F29AD9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2945105"/>
              </p:ext>
            </p:extLst>
          </p:nvPr>
        </p:nvGraphicFramePr>
        <p:xfrm>
          <a:off x="301770" y="1240326"/>
          <a:ext cx="8693736" cy="12405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84882">
                  <a:extLst>
                    <a:ext uri="{9D8B030D-6E8A-4147-A177-3AD203B41FA5}">
                      <a16:colId xmlns:a16="http://schemas.microsoft.com/office/drawing/2014/main" val="679249836"/>
                    </a:ext>
                  </a:extLst>
                </a:gridCol>
                <a:gridCol w="1131968">
                  <a:extLst>
                    <a:ext uri="{9D8B030D-6E8A-4147-A177-3AD203B41FA5}">
                      <a16:colId xmlns:a16="http://schemas.microsoft.com/office/drawing/2014/main" val="2726402293"/>
                    </a:ext>
                  </a:extLst>
                </a:gridCol>
                <a:gridCol w="1466251">
                  <a:extLst>
                    <a:ext uri="{9D8B030D-6E8A-4147-A177-3AD203B41FA5}">
                      <a16:colId xmlns:a16="http://schemas.microsoft.com/office/drawing/2014/main" val="3865872821"/>
                    </a:ext>
                  </a:extLst>
                </a:gridCol>
                <a:gridCol w="1466251">
                  <a:extLst>
                    <a:ext uri="{9D8B030D-6E8A-4147-A177-3AD203B41FA5}">
                      <a16:colId xmlns:a16="http://schemas.microsoft.com/office/drawing/2014/main" val="3765979919"/>
                    </a:ext>
                  </a:extLst>
                </a:gridCol>
                <a:gridCol w="1467835">
                  <a:extLst>
                    <a:ext uri="{9D8B030D-6E8A-4147-A177-3AD203B41FA5}">
                      <a16:colId xmlns:a16="http://schemas.microsoft.com/office/drawing/2014/main" val="3127496627"/>
                    </a:ext>
                  </a:extLst>
                </a:gridCol>
                <a:gridCol w="1476549">
                  <a:extLst>
                    <a:ext uri="{9D8B030D-6E8A-4147-A177-3AD203B41FA5}">
                      <a16:colId xmlns:a16="http://schemas.microsoft.com/office/drawing/2014/main" val="2064683055"/>
                    </a:ext>
                  </a:extLst>
                </a:gridCol>
              </a:tblGrid>
              <a:tr h="460086">
                <a:tc gridSpan="6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MX" sz="1800" kern="100" dirty="0">
                          <a:effectLst/>
                        </a:rPr>
                        <a:t>Alumnos</a:t>
                      </a:r>
                      <a:endParaRPr lang="es-MX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4030799"/>
                  </a:ext>
                </a:extLst>
              </a:tr>
              <a:tr h="42372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MX" sz="1800" kern="100">
                          <a:effectLst/>
                        </a:rPr>
                        <a:t>Matricula (PK)</a:t>
                      </a:r>
                      <a:endParaRPr lang="es-MX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MX" sz="1800" kern="100">
                          <a:effectLst/>
                        </a:rPr>
                        <a:t>Nombre</a:t>
                      </a:r>
                      <a:endParaRPr lang="es-MX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MX" sz="1800" kern="100">
                          <a:effectLst/>
                        </a:rPr>
                        <a:t>Carrera</a:t>
                      </a:r>
                      <a:endParaRPr lang="es-MX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MX" sz="1800" kern="100">
                          <a:effectLst/>
                        </a:rPr>
                        <a:t>Grupo</a:t>
                      </a:r>
                      <a:endParaRPr lang="es-MX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MX" sz="1800" kern="100">
                          <a:effectLst/>
                        </a:rPr>
                        <a:t>Correr</a:t>
                      </a:r>
                      <a:endParaRPr lang="es-MX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MX" sz="1800" kern="100" dirty="0">
                          <a:effectLst/>
                        </a:rPr>
                        <a:t>Teléfono</a:t>
                      </a:r>
                      <a:endParaRPr lang="es-MX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82193846"/>
                  </a:ext>
                </a:extLst>
              </a:tr>
            </a:tbl>
          </a:graphicData>
        </a:graphic>
      </p:graphicFrame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F4EA23FF-964B-3277-96A5-9CA2684306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1274307"/>
              </p:ext>
            </p:extLst>
          </p:nvPr>
        </p:nvGraphicFramePr>
        <p:xfrm>
          <a:off x="301769" y="2801743"/>
          <a:ext cx="8568692" cy="73806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08250">
                  <a:extLst>
                    <a:ext uri="{9D8B030D-6E8A-4147-A177-3AD203B41FA5}">
                      <a16:colId xmlns:a16="http://schemas.microsoft.com/office/drawing/2014/main" val="3788995382"/>
                    </a:ext>
                  </a:extLst>
                </a:gridCol>
                <a:gridCol w="1373445">
                  <a:extLst>
                    <a:ext uri="{9D8B030D-6E8A-4147-A177-3AD203B41FA5}">
                      <a16:colId xmlns:a16="http://schemas.microsoft.com/office/drawing/2014/main" val="963113807"/>
                    </a:ext>
                  </a:extLst>
                </a:gridCol>
                <a:gridCol w="1761251">
                  <a:extLst>
                    <a:ext uri="{9D8B030D-6E8A-4147-A177-3AD203B41FA5}">
                      <a16:colId xmlns:a16="http://schemas.microsoft.com/office/drawing/2014/main" val="991443207"/>
                    </a:ext>
                  </a:extLst>
                </a:gridCol>
                <a:gridCol w="1710119">
                  <a:extLst>
                    <a:ext uri="{9D8B030D-6E8A-4147-A177-3AD203B41FA5}">
                      <a16:colId xmlns:a16="http://schemas.microsoft.com/office/drawing/2014/main" val="1705564674"/>
                    </a:ext>
                  </a:extLst>
                </a:gridCol>
                <a:gridCol w="1715627">
                  <a:extLst>
                    <a:ext uri="{9D8B030D-6E8A-4147-A177-3AD203B41FA5}">
                      <a16:colId xmlns:a16="http://schemas.microsoft.com/office/drawing/2014/main" val="3477117369"/>
                    </a:ext>
                  </a:extLst>
                </a:gridCol>
              </a:tblGrid>
              <a:tr h="0">
                <a:tc gridSpan="5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MX" sz="1800" kern="100" dirty="0">
                          <a:effectLst/>
                        </a:rPr>
                        <a:t>Docentes</a:t>
                      </a:r>
                      <a:endParaRPr lang="es-MX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0647245"/>
                  </a:ext>
                </a:extLst>
              </a:tr>
              <a:tr h="33909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MX" sz="1800" kern="100">
                          <a:effectLst/>
                        </a:rPr>
                        <a:t>Id_Docente (PK)</a:t>
                      </a:r>
                      <a:endParaRPr lang="es-MX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MX" sz="1800" kern="100">
                          <a:effectLst/>
                        </a:rPr>
                        <a:t>Nombre</a:t>
                      </a:r>
                      <a:endParaRPr lang="es-MX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MX" sz="1800" kern="100">
                          <a:effectLst/>
                        </a:rPr>
                        <a:t>Especialidad</a:t>
                      </a:r>
                      <a:endParaRPr lang="es-MX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MX" sz="1800" kern="100">
                          <a:effectLst/>
                        </a:rPr>
                        <a:t>Correo</a:t>
                      </a:r>
                      <a:endParaRPr lang="es-MX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MX" sz="1800" kern="100" dirty="0">
                          <a:effectLst/>
                        </a:rPr>
                        <a:t>Teléfono</a:t>
                      </a:r>
                      <a:endParaRPr lang="es-MX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22420214"/>
                  </a:ext>
                </a:extLst>
              </a:tr>
            </a:tbl>
          </a:graphicData>
        </a:graphic>
      </p:graphicFrame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ECD3A488-1FC4-05C2-9E03-FD415C0770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8203913"/>
              </p:ext>
            </p:extLst>
          </p:nvPr>
        </p:nvGraphicFramePr>
        <p:xfrm>
          <a:off x="301769" y="3929753"/>
          <a:ext cx="10541439" cy="73806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49930">
                  <a:extLst>
                    <a:ext uri="{9D8B030D-6E8A-4147-A177-3AD203B41FA5}">
                      <a16:colId xmlns:a16="http://schemas.microsoft.com/office/drawing/2014/main" val="376749698"/>
                    </a:ext>
                  </a:extLst>
                </a:gridCol>
                <a:gridCol w="1107078">
                  <a:extLst>
                    <a:ext uri="{9D8B030D-6E8A-4147-A177-3AD203B41FA5}">
                      <a16:colId xmlns:a16="http://schemas.microsoft.com/office/drawing/2014/main" val="689311302"/>
                    </a:ext>
                  </a:extLst>
                </a:gridCol>
                <a:gridCol w="1695818">
                  <a:extLst>
                    <a:ext uri="{9D8B030D-6E8A-4147-A177-3AD203B41FA5}">
                      <a16:colId xmlns:a16="http://schemas.microsoft.com/office/drawing/2014/main" val="3865853816"/>
                    </a:ext>
                  </a:extLst>
                </a:gridCol>
                <a:gridCol w="1862872">
                  <a:extLst>
                    <a:ext uri="{9D8B030D-6E8A-4147-A177-3AD203B41FA5}">
                      <a16:colId xmlns:a16="http://schemas.microsoft.com/office/drawing/2014/main" val="698741534"/>
                    </a:ext>
                  </a:extLst>
                </a:gridCol>
                <a:gridCol w="2014489">
                  <a:extLst>
                    <a:ext uri="{9D8B030D-6E8A-4147-A177-3AD203B41FA5}">
                      <a16:colId xmlns:a16="http://schemas.microsoft.com/office/drawing/2014/main" val="1288090825"/>
                    </a:ext>
                  </a:extLst>
                </a:gridCol>
                <a:gridCol w="1711252">
                  <a:extLst>
                    <a:ext uri="{9D8B030D-6E8A-4147-A177-3AD203B41FA5}">
                      <a16:colId xmlns:a16="http://schemas.microsoft.com/office/drawing/2014/main" val="1101515213"/>
                    </a:ext>
                  </a:extLst>
                </a:gridCol>
              </a:tblGrid>
              <a:tr h="295275">
                <a:tc gridSpan="6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MX" sz="1800" kern="100" dirty="0">
                          <a:effectLst/>
                        </a:rPr>
                        <a:t>Cursos</a:t>
                      </a:r>
                      <a:endParaRPr lang="es-MX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1136359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MX" sz="1800" kern="100">
                          <a:effectLst/>
                        </a:rPr>
                        <a:t>Id_Curso (PK)</a:t>
                      </a:r>
                      <a:endParaRPr lang="es-MX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MX" sz="1800" kern="100">
                          <a:effectLst/>
                        </a:rPr>
                        <a:t>Nombre</a:t>
                      </a:r>
                      <a:endParaRPr lang="es-MX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MX" sz="1800" kern="100" dirty="0">
                          <a:effectLst/>
                        </a:rPr>
                        <a:t>Descripción</a:t>
                      </a:r>
                      <a:endParaRPr lang="es-MX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MX" sz="1800" kern="100">
                          <a:effectLst/>
                        </a:rPr>
                        <a:t>Duración</a:t>
                      </a:r>
                      <a:endParaRPr lang="es-MX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MX" sz="1800" kern="100" dirty="0">
                          <a:effectLst/>
                        </a:rPr>
                        <a:t>Cupo máximo</a:t>
                      </a:r>
                      <a:endParaRPr lang="es-MX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MX" sz="1800" kern="100" dirty="0">
                          <a:effectLst/>
                        </a:rPr>
                        <a:t>Horario</a:t>
                      </a:r>
                      <a:endParaRPr lang="es-MX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52743525"/>
                  </a:ext>
                </a:extLst>
              </a:tr>
            </a:tbl>
          </a:graphicData>
        </a:graphic>
      </p:graphicFrame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795368B4-EF2D-6FB2-510C-AB56AE76BC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3631843"/>
              </p:ext>
            </p:extLst>
          </p:nvPr>
        </p:nvGraphicFramePr>
        <p:xfrm>
          <a:off x="301769" y="4965743"/>
          <a:ext cx="7638662" cy="73806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45644">
                  <a:extLst>
                    <a:ext uri="{9D8B030D-6E8A-4147-A177-3AD203B41FA5}">
                      <a16:colId xmlns:a16="http://schemas.microsoft.com/office/drawing/2014/main" val="2551503946"/>
                    </a:ext>
                  </a:extLst>
                </a:gridCol>
                <a:gridCol w="2546509">
                  <a:extLst>
                    <a:ext uri="{9D8B030D-6E8A-4147-A177-3AD203B41FA5}">
                      <a16:colId xmlns:a16="http://schemas.microsoft.com/office/drawing/2014/main" val="1081792274"/>
                    </a:ext>
                  </a:extLst>
                </a:gridCol>
                <a:gridCol w="2546509">
                  <a:extLst>
                    <a:ext uri="{9D8B030D-6E8A-4147-A177-3AD203B41FA5}">
                      <a16:colId xmlns:a16="http://schemas.microsoft.com/office/drawing/2014/main" val="1755179495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MX" sz="1800" kern="100" dirty="0">
                          <a:effectLst/>
                        </a:rPr>
                        <a:t>Inscripciones</a:t>
                      </a:r>
                      <a:endParaRPr lang="es-MX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009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MX" sz="1800" kern="100">
                          <a:effectLst/>
                        </a:rPr>
                        <a:t>Id_Inscripción (PK)</a:t>
                      </a:r>
                      <a:endParaRPr lang="es-MX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MX" sz="1800" kern="100">
                          <a:effectLst/>
                        </a:rPr>
                        <a:t>Fecha de Inscripción</a:t>
                      </a:r>
                      <a:endParaRPr lang="es-MX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MX" sz="1800" kern="100" dirty="0">
                          <a:effectLst/>
                        </a:rPr>
                        <a:t>Estado</a:t>
                      </a:r>
                      <a:endParaRPr lang="es-MX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81389219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017D454A-A0ED-A3AD-1AB0-CF777F8DDE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5354" y="-163198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1F7662B-79F8-C822-E27E-77D81E91A4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1908" y="1286473"/>
            <a:ext cx="2406650" cy="203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346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EDA42E-3532-A7EC-528D-AE6E85085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6041"/>
            <a:ext cx="10058400" cy="1371600"/>
          </a:xfrm>
        </p:spPr>
        <p:txBody>
          <a:bodyPr>
            <a:normAutofit fontScale="90000"/>
          </a:bodyPr>
          <a:lstStyle/>
          <a:p>
            <a:br>
              <a:rPr lang="es-MX" sz="3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s-MX" sz="3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7. Relaciones entre datos</a:t>
            </a:r>
            <a:br>
              <a:rPr lang="es-MX" sz="35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s-MX" sz="35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2301B0-BBD0-00EF-89EC-85CED35B8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s-MX" sz="24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Relaciones identificadas</a:t>
            </a:r>
            <a:endParaRPr lang="es-MX" sz="24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MX" sz="20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 docente puede impartir varios cursos. </a:t>
            </a:r>
            <a:endParaRPr lang="es-MX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MX" sz="20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 curso pertenece a un solo docente. </a:t>
            </a:r>
            <a:endParaRPr lang="es-MX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MX" sz="20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 alumno puede tener varias inscripciones. </a:t>
            </a:r>
            <a:endParaRPr lang="es-MX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MX" sz="20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 curso puede tener muchas inscripciones. </a:t>
            </a:r>
            <a:endParaRPr lang="es-MX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MX" sz="20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 tabla Inscripción relaciona a los alumnos con los cursos</a:t>
            </a:r>
            <a:endParaRPr lang="es-MX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508E40D-857F-E623-0FBF-CF8327DDCE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1662" y="2332247"/>
            <a:ext cx="4829908" cy="217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107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885091-BD94-3D8B-7E56-172D468BD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446" y="642594"/>
            <a:ext cx="10058400" cy="1371600"/>
          </a:xfrm>
        </p:spPr>
        <p:txBody>
          <a:bodyPr>
            <a:normAutofit fontScale="90000"/>
          </a:bodyPr>
          <a:lstStyle/>
          <a:p>
            <a:br>
              <a:rPr lang="es-MX" sz="3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s-MX" sz="3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8. Consultas o reportes útiles</a:t>
            </a:r>
            <a:br>
              <a:rPr lang="es-MX" sz="35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s-MX" sz="35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3032AE-F4BE-1E3D-916C-8ECF4E779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37923" cy="4351338"/>
          </a:xfrm>
        </p:spPr>
        <p:txBody>
          <a:bodyPr/>
          <a:lstStyle/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s-MX" sz="25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Lista de alumnos inscritos por curso.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s-MX" sz="25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Cupos disponibles de cada curso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s-MX" sz="25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Nombre de los docentes de cada curso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s-MX" sz="25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Cursos inscritos por un alumno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s-MX" sz="25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Cursos que ya alcanzaron el cupo máximo</a:t>
            </a: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ED30DD5-0048-84B9-1597-7ED7DD209D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9776" y="1570892"/>
            <a:ext cx="3034024" cy="285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527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E087BD-A966-5157-BDA0-57B1D34B7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6963"/>
            <a:ext cx="10058400" cy="1371600"/>
          </a:xfrm>
        </p:spPr>
        <p:txBody>
          <a:bodyPr>
            <a:normAutofit/>
          </a:bodyPr>
          <a:lstStyle/>
          <a:p>
            <a:r>
              <a:rPr lang="es-MX" sz="30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9. Conclusión</a:t>
            </a:r>
            <a:br>
              <a:rPr lang="es-MX" sz="3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s-MX" sz="3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C430BB-3474-273A-BD93-914EEDE6C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7657123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MX" sz="2000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Fue muy importante el diseño de la base de datos para entender cómo se organizaría toda la información del sistema de inscripción a cursos extracurriculares. Del análisis del caso se identificaron los principales datos que se deben guardar, alumnos, docentes, cursos, inscripciones, y la relación que hay entre ellos.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MX" sz="20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 resumen, diseño basa datos ayuda a que la información esté mejor organizada y facilita mucho el proceso de inscripción, hace que sea más rápido, ordenado y eficiente que el manual método que se utilizaba anteriormente.</a:t>
            </a:r>
            <a:endParaRPr lang="es-MX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s-MX" sz="3200" dirty="0"/>
          </a:p>
        </p:txBody>
      </p:sp>
    </p:spTree>
    <p:extLst>
      <p:ext uri="{BB962C8B-B14F-4D97-AF65-F5344CB8AC3E}">
        <p14:creationId xmlns:p14="http://schemas.microsoft.com/office/powerpoint/2010/main" val="124852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56</TotalTime>
  <Words>518</Words>
  <Application>Microsoft Office PowerPoint</Application>
  <PresentationFormat>Panorámica</PresentationFormat>
  <Paragraphs>86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Aptos</vt:lpstr>
      <vt:lpstr>Arial</vt:lpstr>
      <vt:lpstr>Century Gothic</vt:lpstr>
      <vt:lpstr>Garamond</vt:lpstr>
      <vt:lpstr>Symbol</vt:lpstr>
      <vt:lpstr>Savon</vt:lpstr>
      <vt:lpstr>  Caso 4. Sistema de inscripción a cursos extracurriculares   Estudiantes:  Alisson Arely Hernández Camargo Irving Josue Andablo Islas  Monserrath Muñoz Juarez   Docente: José Luis Herrera Gallardo   3DMS-G2   21/05/2026</vt:lpstr>
      <vt:lpstr>2. Introducción</vt:lpstr>
      <vt:lpstr>3. Necesidad de información</vt:lpstr>
      <vt:lpstr>4. Usuarios del sistema</vt:lpstr>
      <vt:lpstr>5. Procesos principales </vt:lpstr>
      <vt:lpstr>6. Entidades o tablas propuestas </vt:lpstr>
      <vt:lpstr> 7. Relaciones entre datos </vt:lpstr>
      <vt:lpstr> 8. Consultas o reportes útiles </vt:lpstr>
      <vt:lpstr>9. Conclusión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Irving J</dc:creator>
  <cp:lastModifiedBy>Irving J</cp:lastModifiedBy>
  <cp:revision>3</cp:revision>
  <dcterms:created xsi:type="dcterms:W3CDTF">2026-05-20T19:53:06Z</dcterms:created>
  <dcterms:modified xsi:type="dcterms:W3CDTF">2026-05-20T20:56:45Z</dcterms:modified>
</cp:coreProperties>
</file>